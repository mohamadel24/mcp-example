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2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4" r:id="rId8"/>
    <p:sldId id="263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79B48-24D7-485E-B5BD-8167AB265109}" v="2733" dt="2026-02-06T15:56:35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C11486-8D2F-49CC-A678-DB65EF7AB166}" type="doc">
      <dgm:prSet loTypeId="urn:microsoft.com/office/officeart/2008/layout/LinedList" loCatId="list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70D7379B-83B3-4718-9770-B0B9DFE2974D}">
      <dgm:prSet/>
      <dgm:spPr/>
      <dgm:t>
        <a:bodyPr/>
        <a:lstStyle/>
        <a:p>
          <a:r>
            <a:rPr lang="en-US" dirty="0"/>
            <a:t>Discussion will focus on server-side </a:t>
          </a:r>
          <a:r>
            <a:rPr lang="en-US" dirty="0">
              <a:latin typeface="Century Gothic" panose="020B0502020202020204"/>
            </a:rPr>
            <a:t>MCP</a:t>
          </a:r>
          <a:endParaRPr lang="en-US" dirty="0"/>
        </a:p>
      </dgm:t>
    </dgm:pt>
    <dgm:pt modelId="{F8B561C4-3488-4AD8-AA57-C22E90285BA8}" type="parTrans" cxnId="{A0425F71-FC21-4537-9370-47C2AEFBB638}">
      <dgm:prSet/>
      <dgm:spPr/>
      <dgm:t>
        <a:bodyPr/>
        <a:lstStyle/>
        <a:p>
          <a:endParaRPr lang="en-US"/>
        </a:p>
      </dgm:t>
    </dgm:pt>
    <dgm:pt modelId="{A47521AB-B6C8-4E3F-B1E6-4694DD27A441}" type="sibTrans" cxnId="{A0425F71-FC21-4537-9370-47C2AEFBB638}">
      <dgm:prSet/>
      <dgm:spPr/>
      <dgm:t>
        <a:bodyPr/>
        <a:lstStyle/>
        <a:p>
          <a:endParaRPr lang="en-US"/>
        </a:p>
      </dgm:t>
    </dgm:pt>
    <dgm:pt modelId="{FA3E1ED9-B868-429E-9EF3-195CA5C0D7E5}">
      <dgm:prSet/>
      <dgm:spPr/>
      <dgm:t>
        <a:bodyPr/>
        <a:lstStyle/>
        <a:p>
          <a:pPr rtl="0"/>
          <a:r>
            <a:rPr lang="en-US" dirty="0"/>
            <a:t>Discuss and explain </a:t>
          </a:r>
          <a:r>
            <a:rPr lang="en-US" dirty="0">
              <a:latin typeface="Century Gothic" panose="020B0502020202020204"/>
            </a:rPr>
            <a:t>MCP concepts</a:t>
          </a:r>
          <a:endParaRPr lang="en-US" dirty="0"/>
        </a:p>
      </dgm:t>
    </dgm:pt>
    <dgm:pt modelId="{38B4B878-7859-4B0F-A981-770E9F34404F}" type="parTrans" cxnId="{743C3D42-F57D-408F-85AB-24FE5BE53ADD}">
      <dgm:prSet/>
      <dgm:spPr/>
      <dgm:t>
        <a:bodyPr/>
        <a:lstStyle/>
        <a:p>
          <a:endParaRPr lang="en-US"/>
        </a:p>
      </dgm:t>
    </dgm:pt>
    <dgm:pt modelId="{1943492F-226F-4691-9082-F98B49862249}" type="sibTrans" cxnId="{743C3D42-F57D-408F-85AB-24FE5BE53ADD}">
      <dgm:prSet/>
      <dgm:spPr/>
      <dgm:t>
        <a:bodyPr/>
        <a:lstStyle/>
        <a:p>
          <a:endParaRPr lang="en-US"/>
        </a:p>
      </dgm:t>
    </dgm:pt>
    <dgm:pt modelId="{5109A4F1-AC9F-45B9-B51F-15475398CA55}">
      <dgm:prSet/>
      <dgm:spPr/>
      <dgm:t>
        <a:bodyPr/>
        <a:lstStyle/>
        <a:p>
          <a:pPr rtl="0"/>
          <a:r>
            <a:rPr lang="en-US" dirty="0"/>
            <a:t>Present </a:t>
          </a:r>
          <a:r>
            <a:rPr lang="en-US" dirty="0">
              <a:latin typeface="Century Gothic" panose="020B0502020202020204"/>
            </a:rPr>
            <a:t>MCP demo</a:t>
          </a:r>
        </a:p>
      </dgm:t>
    </dgm:pt>
    <dgm:pt modelId="{6057B8B2-F8EB-4EED-9608-81D468591258}" type="parTrans" cxnId="{2510A02B-FFD0-47C8-A705-171E435A6630}">
      <dgm:prSet/>
      <dgm:spPr/>
      <dgm:t>
        <a:bodyPr/>
        <a:lstStyle/>
        <a:p>
          <a:endParaRPr lang="en-US"/>
        </a:p>
      </dgm:t>
    </dgm:pt>
    <dgm:pt modelId="{4E28A5C2-D0AA-4C98-A3B2-D215C7A35CDB}" type="sibTrans" cxnId="{2510A02B-FFD0-47C8-A705-171E435A6630}">
      <dgm:prSet/>
      <dgm:spPr/>
      <dgm:t>
        <a:bodyPr/>
        <a:lstStyle/>
        <a:p>
          <a:endParaRPr lang="en-US"/>
        </a:p>
      </dgm:t>
    </dgm:pt>
    <dgm:pt modelId="{00E83703-B12B-4A2A-AE21-793D6C23C34F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Discuss</a:t>
          </a:r>
          <a:r>
            <a:rPr lang="en-US" dirty="0"/>
            <a:t> </a:t>
          </a:r>
          <a:r>
            <a:rPr lang="en-US" dirty="0" err="1"/>
            <a:t>apptrack</a:t>
          </a:r>
          <a:r>
            <a:rPr lang="en-US" dirty="0"/>
            <a:t> </a:t>
          </a:r>
          <a:r>
            <a:rPr lang="en-US" dirty="0">
              <a:latin typeface="Century Gothic" panose="020B0502020202020204"/>
            </a:rPr>
            <a:t>MCP</a:t>
          </a:r>
          <a:r>
            <a:rPr lang="en-US" dirty="0"/>
            <a:t> setup</a:t>
          </a:r>
        </a:p>
      </dgm:t>
    </dgm:pt>
    <dgm:pt modelId="{3A74C405-9EC2-4D0D-A160-B6800CE7D3C2}" type="parTrans" cxnId="{36914DFC-C30F-4FE6-A36D-F1E74EE39A67}">
      <dgm:prSet/>
      <dgm:spPr/>
      <dgm:t>
        <a:bodyPr/>
        <a:lstStyle/>
        <a:p>
          <a:endParaRPr lang="en-US"/>
        </a:p>
      </dgm:t>
    </dgm:pt>
    <dgm:pt modelId="{ABD709BC-8EFC-422D-A6DB-681A47E9FA50}" type="sibTrans" cxnId="{36914DFC-C30F-4FE6-A36D-F1E74EE39A67}">
      <dgm:prSet/>
      <dgm:spPr/>
      <dgm:t>
        <a:bodyPr/>
        <a:lstStyle/>
        <a:p>
          <a:endParaRPr lang="en-US"/>
        </a:p>
      </dgm:t>
    </dgm:pt>
    <dgm:pt modelId="{65380526-EA78-456D-8C39-6E76A9B5D86B}">
      <dgm:prSet/>
      <dgm:spPr/>
      <dgm:t>
        <a:bodyPr/>
        <a:lstStyle/>
        <a:p>
          <a:r>
            <a:rPr lang="en-US" dirty="0"/>
            <a:t>Takeaways </a:t>
          </a:r>
        </a:p>
      </dgm:t>
    </dgm:pt>
    <dgm:pt modelId="{2E82AD57-7C16-47FF-AC98-299E55FDF211}" type="parTrans" cxnId="{F5943916-8C18-4DA2-BF2D-05B5994D775D}">
      <dgm:prSet/>
      <dgm:spPr/>
      <dgm:t>
        <a:bodyPr/>
        <a:lstStyle/>
        <a:p>
          <a:endParaRPr lang="en-US"/>
        </a:p>
      </dgm:t>
    </dgm:pt>
    <dgm:pt modelId="{5BDDD0F4-3DDF-4CE2-AECA-91C3EF9B9045}" type="sibTrans" cxnId="{F5943916-8C18-4DA2-BF2D-05B5994D775D}">
      <dgm:prSet/>
      <dgm:spPr/>
      <dgm:t>
        <a:bodyPr/>
        <a:lstStyle/>
        <a:p>
          <a:endParaRPr lang="en-US"/>
        </a:p>
      </dgm:t>
    </dgm:pt>
    <dgm:pt modelId="{63C0F5D5-CB8C-4125-A25B-7E23677937D6}" type="pres">
      <dgm:prSet presAssocID="{20C11486-8D2F-49CC-A678-DB65EF7AB166}" presName="vert0" presStyleCnt="0">
        <dgm:presLayoutVars>
          <dgm:dir/>
          <dgm:animOne val="branch"/>
          <dgm:animLvl val="lvl"/>
        </dgm:presLayoutVars>
      </dgm:prSet>
      <dgm:spPr/>
    </dgm:pt>
    <dgm:pt modelId="{7136CF52-0367-4F5F-9BFC-BF38BDA63CF1}" type="pres">
      <dgm:prSet presAssocID="{70D7379B-83B3-4718-9770-B0B9DFE2974D}" presName="thickLine" presStyleLbl="alignNode1" presStyleIdx="0" presStyleCnt="5"/>
      <dgm:spPr/>
    </dgm:pt>
    <dgm:pt modelId="{D4A6EBA2-2230-48A7-A27F-48BECC8B958B}" type="pres">
      <dgm:prSet presAssocID="{70D7379B-83B3-4718-9770-B0B9DFE2974D}" presName="horz1" presStyleCnt="0"/>
      <dgm:spPr/>
    </dgm:pt>
    <dgm:pt modelId="{AED386CC-FB22-47A1-AC27-38E2B40CDB1E}" type="pres">
      <dgm:prSet presAssocID="{70D7379B-83B3-4718-9770-B0B9DFE2974D}" presName="tx1" presStyleLbl="revTx" presStyleIdx="0" presStyleCnt="5"/>
      <dgm:spPr/>
    </dgm:pt>
    <dgm:pt modelId="{A69A135F-F3C1-4AF7-AE74-2289B404E858}" type="pres">
      <dgm:prSet presAssocID="{70D7379B-83B3-4718-9770-B0B9DFE2974D}" presName="vert1" presStyleCnt="0"/>
      <dgm:spPr/>
    </dgm:pt>
    <dgm:pt modelId="{C81298A6-5C6E-44C3-BD1C-112C8A816260}" type="pres">
      <dgm:prSet presAssocID="{FA3E1ED9-B868-429E-9EF3-195CA5C0D7E5}" presName="thickLine" presStyleLbl="alignNode1" presStyleIdx="1" presStyleCnt="5"/>
      <dgm:spPr/>
    </dgm:pt>
    <dgm:pt modelId="{19BEB97E-F6DD-4086-B48F-2F7EEDBD9144}" type="pres">
      <dgm:prSet presAssocID="{FA3E1ED9-B868-429E-9EF3-195CA5C0D7E5}" presName="horz1" presStyleCnt="0"/>
      <dgm:spPr/>
    </dgm:pt>
    <dgm:pt modelId="{5173696D-CC47-4F3F-8579-B66BA3D3457B}" type="pres">
      <dgm:prSet presAssocID="{FA3E1ED9-B868-429E-9EF3-195CA5C0D7E5}" presName="tx1" presStyleLbl="revTx" presStyleIdx="1" presStyleCnt="5"/>
      <dgm:spPr/>
    </dgm:pt>
    <dgm:pt modelId="{8CBC311C-6C77-4C45-84A3-22228BCD5659}" type="pres">
      <dgm:prSet presAssocID="{FA3E1ED9-B868-429E-9EF3-195CA5C0D7E5}" presName="vert1" presStyleCnt="0"/>
      <dgm:spPr/>
    </dgm:pt>
    <dgm:pt modelId="{E87BB7A3-E212-48DC-A778-C5A0AACEF722}" type="pres">
      <dgm:prSet presAssocID="{5109A4F1-AC9F-45B9-B51F-15475398CA55}" presName="thickLine" presStyleLbl="alignNode1" presStyleIdx="2" presStyleCnt="5"/>
      <dgm:spPr/>
    </dgm:pt>
    <dgm:pt modelId="{A4055B29-9FEE-4E14-BA01-1560ADA3F5FA}" type="pres">
      <dgm:prSet presAssocID="{5109A4F1-AC9F-45B9-B51F-15475398CA55}" presName="horz1" presStyleCnt="0"/>
      <dgm:spPr/>
    </dgm:pt>
    <dgm:pt modelId="{1CBAA442-4A89-471D-92C0-050663C8A471}" type="pres">
      <dgm:prSet presAssocID="{5109A4F1-AC9F-45B9-B51F-15475398CA55}" presName="tx1" presStyleLbl="revTx" presStyleIdx="2" presStyleCnt="5"/>
      <dgm:spPr/>
    </dgm:pt>
    <dgm:pt modelId="{E7A255B0-5CF3-40B9-9236-DD608B5F58E8}" type="pres">
      <dgm:prSet presAssocID="{5109A4F1-AC9F-45B9-B51F-15475398CA55}" presName="vert1" presStyleCnt="0"/>
      <dgm:spPr/>
    </dgm:pt>
    <dgm:pt modelId="{C2E0CC4D-223C-4EB3-A209-BBF9557989A0}" type="pres">
      <dgm:prSet presAssocID="{00E83703-B12B-4A2A-AE21-793D6C23C34F}" presName="thickLine" presStyleLbl="alignNode1" presStyleIdx="3" presStyleCnt="5"/>
      <dgm:spPr/>
    </dgm:pt>
    <dgm:pt modelId="{F27960D3-F61C-4AFC-9CBD-124688030C83}" type="pres">
      <dgm:prSet presAssocID="{00E83703-B12B-4A2A-AE21-793D6C23C34F}" presName="horz1" presStyleCnt="0"/>
      <dgm:spPr/>
    </dgm:pt>
    <dgm:pt modelId="{3D8BDD97-2C5B-45AF-A110-E3742EEAF4C3}" type="pres">
      <dgm:prSet presAssocID="{00E83703-B12B-4A2A-AE21-793D6C23C34F}" presName="tx1" presStyleLbl="revTx" presStyleIdx="3" presStyleCnt="5"/>
      <dgm:spPr/>
    </dgm:pt>
    <dgm:pt modelId="{95E9D210-2771-4055-8F67-AE50738FDF65}" type="pres">
      <dgm:prSet presAssocID="{00E83703-B12B-4A2A-AE21-793D6C23C34F}" presName="vert1" presStyleCnt="0"/>
      <dgm:spPr/>
    </dgm:pt>
    <dgm:pt modelId="{4FDC1EC5-7089-4908-A84D-6BB22E39D648}" type="pres">
      <dgm:prSet presAssocID="{65380526-EA78-456D-8C39-6E76A9B5D86B}" presName="thickLine" presStyleLbl="alignNode1" presStyleIdx="4" presStyleCnt="5"/>
      <dgm:spPr/>
    </dgm:pt>
    <dgm:pt modelId="{C4164C15-C2A6-4E1C-AB9F-5DB170297326}" type="pres">
      <dgm:prSet presAssocID="{65380526-EA78-456D-8C39-6E76A9B5D86B}" presName="horz1" presStyleCnt="0"/>
      <dgm:spPr/>
    </dgm:pt>
    <dgm:pt modelId="{47FF3E6D-5E5D-46BE-B804-BD1DF51AF5FC}" type="pres">
      <dgm:prSet presAssocID="{65380526-EA78-456D-8C39-6E76A9B5D86B}" presName="tx1" presStyleLbl="revTx" presStyleIdx="4" presStyleCnt="5"/>
      <dgm:spPr/>
    </dgm:pt>
    <dgm:pt modelId="{FA3B8BC5-C129-492E-891F-310DF0E6AD63}" type="pres">
      <dgm:prSet presAssocID="{65380526-EA78-456D-8C39-6E76A9B5D86B}" presName="vert1" presStyleCnt="0"/>
      <dgm:spPr/>
    </dgm:pt>
  </dgm:ptLst>
  <dgm:cxnLst>
    <dgm:cxn modelId="{F5943916-8C18-4DA2-BF2D-05B5994D775D}" srcId="{20C11486-8D2F-49CC-A678-DB65EF7AB166}" destId="{65380526-EA78-456D-8C39-6E76A9B5D86B}" srcOrd="4" destOrd="0" parTransId="{2E82AD57-7C16-47FF-AC98-299E55FDF211}" sibTransId="{5BDDD0F4-3DDF-4CE2-AECA-91C3EF9B9045}"/>
    <dgm:cxn modelId="{2510A02B-FFD0-47C8-A705-171E435A6630}" srcId="{20C11486-8D2F-49CC-A678-DB65EF7AB166}" destId="{5109A4F1-AC9F-45B9-B51F-15475398CA55}" srcOrd="2" destOrd="0" parTransId="{6057B8B2-F8EB-4EED-9608-81D468591258}" sibTransId="{4E28A5C2-D0AA-4C98-A3B2-D215C7A35CDB}"/>
    <dgm:cxn modelId="{64B55131-1B5F-42EF-8AEE-9263A728BDDE}" type="presOf" srcId="{20C11486-8D2F-49CC-A678-DB65EF7AB166}" destId="{63C0F5D5-CB8C-4125-A25B-7E23677937D6}" srcOrd="0" destOrd="0" presId="urn:microsoft.com/office/officeart/2008/layout/LinedList"/>
    <dgm:cxn modelId="{743C3D42-F57D-408F-85AB-24FE5BE53ADD}" srcId="{20C11486-8D2F-49CC-A678-DB65EF7AB166}" destId="{FA3E1ED9-B868-429E-9EF3-195CA5C0D7E5}" srcOrd="1" destOrd="0" parTransId="{38B4B878-7859-4B0F-A981-770E9F34404F}" sibTransId="{1943492F-226F-4691-9082-F98B49862249}"/>
    <dgm:cxn modelId="{A0425F71-FC21-4537-9370-47C2AEFBB638}" srcId="{20C11486-8D2F-49CC-A678-DB65EF7AB166}" destId="{70D7379B-83B3-4718-9770-B0B9DFE2974D}" srcOrd="0" destOrd="0" parTransId="{F8B561C4-3488-4AD8-AA57-C22E90285BA8}" sibTransId="{A47521AB-B6C8-4E3F-B1E6-4694DD27A441}"/>
    <dgm:cxn modelId="{DB4C3F76-E998-4ABA-A155-ABF0FC5AE9EE}" type="presOf" srcId="{65380526-EA78-456D-8C39-6E76A9B5D86B}" destId="{47FF3E6D-5E5D-46BE-B804-BD1DF51AF5FC}" srcOrd="0" destOrd="0" presId="urn:microsoft.com/office/officeart/2008/layout/LinedList"/>
    <dgm:cxn modelId="{B81EF577-3453-46C4-B9F2-E57238682B59}" type="presOf" srcId="{70D7379B-83B3-4718-9770-B0B9DFE2974D}" destId="{AED386CC-FB22-47A1-AC27-38E2B40CDB1E}" srcOrd="0" destOrd="0" presId="urn:microsoft.com/office/officeart/2008/layout/LinedList"/>
    <dgm:cxn modelId="{74C18ABE-E93E-46B0-A415-4EBF87D6881B}" type="presOf" srcId="{FA3E1ED9-B868-429E-9EF3-195CA5C0D7E5}" destId="{5173696D-CC47-4F3F-8579-B66BA3D3457B}" srcOrd="0" destOrd="0" presId="urn:microsoft.com/office/officeart/2008/layout/LinedList"/>
    <dgm:cxn modelId="{A27371D2-6DA2-4B2E-8193-7542B27BB916}" type="presOf" srcId="{5109A4F1-AC9F-45B9-B51F-15475398CA55}" destId="{1CBAA442-4A89-471D-92C0-050663C8A471}" srcOrd="0" destOrd="0" presId="urn:microsoft.com/office/officeart/2008/layout/LinedList"/>
    <dgm:cxn modelId="{1DC27BF5-D56F-492F-B6A6-522FB99A9A1B}" type="presOf" srcId="{00E83703-B12B-4A2A-AE21-793D6C23C34F}" destId="{3D8BDD97-2C5B-45AF-A110-E3742EEAF4C3}" srcOrd="0" destOrd="0" presId="urn:microsoft.com/office/officeart/2008/layout/LinedList"/>
    <dgm:cxn modelId="{36914DFC-C30F-4FE6-A36D-F1E74EE39A67}" srcId="{20C11486-8D2F-49CC-A678-DB65EF7AB166}" destId="{00E83703-B12B-4A2A-AE21-793D6C23C34F}" srcOrd="3" destOrd="0" parTransId="{3A74C405-9EC2-4D0D-A160-B6800CE7D3C2}" sibTransId="{ABD709BC-8EFC-422D-A6DB-681A47E9FA50}"/>
    <dgm:cxn modelId="{1A0E0704-878B-44F6-9211-FF251A16649A}" type="presParOf" srcId="{63C0F5D5-CB8C-4125-A25B-7E23677937D6}" destId="{7136CF52-0367-4F5F-9BFC-BF38BDA63CF1}" srcOrd="0" destOrd="0" presId="urn:microsoft.com/office/officeart/2008/layout/LinedList"/>
    <dgm:cxn modelId="{93E7D58D-6193-48F1-8715-7FF883632790}" type="presParOf" srcId="{63C0F5D5-CB8C-4125-A25B-7E23677937D6}" destId="{D4A6EBA2-2230-48A7-A27F-48BECC8B958B}" srcOrd="1" destOrd="0" presId="urn:microsoft.com/office/officeart/2008/layout/LinedList"/>
    <dgm:cxn modelId="{C5AA13E7-AB95-438F-B5A2-37763C46247B}" type="presParOf" srcId="{D4A6EBA2-2230-48A7-A27F-48BECC8B958B}" destId="{AED386CC-FB22-47A1-AC27-38E2B40CDB1E}" srcOrd="0" destOrd="0" presId="urn:microsoft.com/office/officeart/2008/layout/LinedList"/>
    <dgm:cxn modelId="{C5E51F41-274D-4A9E-9639-EB706A8F7780}" type="presParOf" srcId="{D4A6EBA2-2230-48A7-A27F-48BECC8B958B}" destId="{A69A135F-F3C1-4AF7-AE74-2289B404E858}" srcOrd="1" destOrd="0" presId="urn:microsoft.com/office/officeart/2008/layout/LinedList"/>
    <dgm:cxn modelId="{CB2BE2DD-E5E3-4D65-A652-B0C6F452CA4B}" type="presParOf" srcId="{63C0F5D5-CB8C-4125-A25B-7E23677937D6}" destId="{C81298A6-5C6E-44C3-BD1C-112C8A816260}" srcOrd="2" destOrd="0" presId="urn:microsoft.com/office/officeart/2008/layout/LinedList"/>
    <dgm:cxn modelId="{4E1E0C49-2DDD-4B28-AE06-D8917FEA9707}" type="presParOf" srcId="{63C0F5D5-CB8C-4125-A25B-7E23677937D6}" destId="{19BEB97E-F6DD-4086-B48F-2F7EEDBD9144}" srcOrd="3" destOrd="0" presId="urn:microsoft.com/office/officeart/2008/layout/LinedList"/>
    <dgm:cxn modelId="{7173A75F-E881-462D-AC62-524A9C9D413B}" type="presParOf" srcId="{19BEB97E-F6DD-4086-B48F-2F7EEDBD9144}" destId="{5173696D-CC47-4F3F-8579-B66BA3D3457B}" srcOrd="0" destOrd="0" presId="urn:microsoft.com/office/officeart/2008/layout/LinedList"/>
    <dgm:cxn modelId="{DDEABEF0-55B5-464F-A00A-0E595E77B5F7}" type="presParOf" srcId="{19BEB97E-F6DD-4086-B48F-2F7EEDBD9144}" destId="{8CBC311C-6C77-4C45-84A3-22228BCD5659}" srcOrd="1" destOrd="0" presId="urn:microsoft.com/office/officeart/2008/layout/LinedList"/>
    <dgm:cxn modelId="{DF727737-4E7D-42D2-8E87-D95908DB1D82}" type="presParOf" srcId="{63C0F5D5-CB8C-4125-A25B-7E23677937D6}" destId="{E87BB7A3-E212-48DC-A778-C5A0AACEF722}" srcOrd="4" destOrd="0" presId="urn:microsoft.com/office/officeart/2008/layout/LinedList"/>
    <dgm:cxn modelId="{58130082-C727-4D97-ABC9-0DAE058FCB27}" type="presParOf" srcId="{63C0F5D5-CB8C-4125-A25B-7E23677937D6}" destId="{A4055B29-9FEE-4E14-BA01-1560ADA3F5FA}" srcOrd="5" destOrd="0" presId="urn:microsoft.com/office/officeart/2008/layout/LinedList"/>
    <dgm:cxn modelId="{AC58FB3D-9E44-4BC6-8A8D-E7CD51B56F50}" type="presParOf" srcId="{A4055B29-9FEE-4E14-BA01-1560ADA3F5FA}" destId="{1CBAA442-4A89-471D-92C0-050663C8A471}" srcOrd="0" destOrd="0" presId="urn:microsoft.com/office/officeart/2008/layout/LinedList"/>
    <dgm:cxn modelId="{F5D46AF8-8659-4D12-B81D-551A7A0B825D}" type="presParOf" srcId="{A4055B29-9FEE-4E14-BA01-1560ADA3F5FA}" destId="{E7A255B0-5CF3-40B9-9236-DD608B5F58E8}" srcOrd="1" destOrd="0" presId="urn:microsoft.com/office/officeart/2008/layout/LinedList"/>
    <dgm:cxn modelId="{97D98C78-CFA7-474B-8705-242D54D94D30}" type="presParOf" srcId="{63C0F5D5-CB8C-4125-A25B-7E23677937D6}" destId="{C2E0CC4D-223C-4EB3-A209-BBF9557989A0}" srcOrd="6" destOrd="0" presId="urn:microsoft.com/office/officeart/2008/layout/LinedList"/>
    <dgm:cxn modelId="{0F77B0AC-F51D-47CE-AF92-8C9E92DC0509}" type="presParOf" srcId="{63C0F5D5-CB8C-4125-A25B-7E23677937D6}" destId="{F27960D3-F61C-4AFC-9CBD-124688030C83}" srcOrd="7" destOrd="0" presId="urn:microsoft.com/office/officeart/2008/layout/LinedList"/>
    <dgm:cxn modelId="{916FF414-687C-435B-BF33-74F24E4BC47F}" type="presParOf" srcId="{F27960D3-F61C-4AFC-9CBD-124688030C83}" destId="{3D8BDD97-2C5B-45AF-A110-E3742EEAF4C3}" srcOrd="0" destOrd="0" presId="urn:microsoft.com/office/officeart/2008/layout/LinedList"/>
    <dgm:cxn modelId="{A6D2FD5B-5C00-4297-8F3A-BDA97220AE8D}" type="presParOf" srcId="{F27960D3-F61C-4AFC-9CBD-124688030C83}" destId="{95E9D210-2771-4055-8F67-AE50738FDF65}" srcOrd="1" destOrd="0" presId="urn:microsoft.com/office/officeart/2008/layout/LinedList"/>
    <dgm:cxn modelId="{92011E1F-659D-4A08-8E2D-CB5F358B0456}" type="presParOf" srcId="{63C0F5D5-CB8C-4125-A25B-7E23677937D6}" destId="{4FDC1EC5-7089-4908-A84D-6BB22E39D648}" srcOrd="8" destOrd="0" presId="urn:microsoft.com/office/officeart/2008/layout/LinedList"/>
    <dgm:cxn modelId="{72F78A15-97C9-4D54-9410-067E6A39E1D1}" type="presParOf" srcId="{63C0F5D5-CB8C-4125-A25B-7E23677937D6}" destId="{C4164C15-C2A6-4E1C-AB9F-5DB170297326}" srcOrd="9" destOrd="0" presId="urn:microsoft.com/office/officeart/2008/layout/LinedList"/>
    <dgm:cxn modelId="{A5037CFB-32C9-4A78-B4AE-7CB5B0C6A9E6}" type="presParOf" srcId="{C4164C15-C2A6-4E1C-AB9F-5DB170297326}" destId="{47FF3E6D-5E5D-46BE-B804-BD1DF51AF5FC}" srcOrd="0" destOrd="0" presId="urn:microsoft.com/office/officeart/2008/layout/LinedList"/>
    <dgm:cxn modelId="{CDB8BA16-54C8-400A-9714-415DE8FC0509}" type="presParOf" srcId="{C4164C15-C2A6-4E1C-AB9F-5DB170297326}" destId="{FA3B8BC5-C129-492E-891F-310DF0E6AD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8B258D-46EB-44DC-A3D4-30ACA0D9A2D8}" type="doc">
      <dgm:prSet loTypeId="urn:microsoft.com/office/officeart/2005/8/layout/vList2" loCatId="list" qsTypeId="urn:microsoft.com/office/officeart/2005/8/quickstyle/simple4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56BC3484-9F02-42C5-8EBE-D3B15CA58888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100" dirty="0" err="1">
              <a:solidFill>
                <a:srgbClr val="FFFFFF"/>
              </a:solidFill>
              <a:ea typeface="+mn-ea"/>
              <a:cs typeface="+mn-cs"/>
            </a:rPr>
            <a:t>Mcp</a:t>
          </a: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 employs a messaging standard </a:t>
          </a:r>
          <a:r>
            <a:rPr lang="en-US" sz="21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(JSON-RPC)</a:t>
          </a: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 to standardize communication payloads</a:t>
          </a:r>
        </a:p>
      </dgm:t>
    </dgm:pt>
    <dgm:pt modelId="{2EF79EA2-5C34-41DB-A03F-39E5DE69FC67}" type="parTrans" cxnId="{505F4C47-B142-429E-8894-FA658A896D96}">
      <dgm:prSet/>
      <dgm:spPr/>
      <dgm:t>
        <a:bodyPr/>
        <a:lstStyle/>
        <a:p>
          <a:endParaRPr lang="en-US"/>
        </a:p>
      </dgm:t>
    </dgm:pt>
    <dgm:pt modelId="{83450AA8-123F-4529-93E4-73124AC164E0}" type="sibTrans" cxnId="{505F4C47-B142-429E-8894-FA658A896D96}">
      <dgm:prSet/>
      <dgm:spPr/>
      <dgm:t>
        <a:bodyPr/>
        <a:lstStyle/>
        <a:p>
          <a:endParaRPr lang="en-US"/>
        </a:p>
      </dgm:t>
    </dgm:pt>
    <dgm:pt modelId="{5F4FF63F-3B2A-44B7-9A4A-0382972C2FBB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This makes it "transport-agnostic" which means these </a:t>
          </a:r>
          <a:r>
            <a:rPr lang="en-US" sz="21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JSON-RPC messages</a:t>
          </a: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 can </a:t>
          </a:r>
          <a:r>
            <a:rPr lang="en-US" sz="21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be </a:t>
          </a: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communicated </a:t>
          </a:r>
          <a:r>
            <a:rPr lang="en-US" sz="21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over different</a:t>
          </a: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 kinds of</a:t>
          </a:r>
          <a:r>
            <a:rPr lang="en-US" sz="21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 transports</a:t>
          </a: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 – even custom ones</a:t>
          </a:r>
        </a:p>
      </dgm:t>
    </dgm:pt>
    <dgm:pt modelId="{80116083-6185-4BE5-952C-584B6E50D990}" type="parTrans" cxnId="{AC15C3F9-6594-44E7-8F54-63BCEB49124A}">
      <dgm:prSet/>
      <dgm:spPr/>
      <dgm:t>
        <a:bodyPr/>
        <a:lstStyle/>
        <a:p>
          <a:endParaRPr lang="en-US"/>
        </a:p>
      </dgm:t>
    </dgm:pt>
    <dgm:pt modelId="{47738681-6DBF-4E6B-ADD5-1E437AD293EC}" type="sibTrans" cxnId="{AC15C3F9-6594-44E7-8F54-63BCEB49124A}">
      <dgm:prSet/>
      <dgm:spPr/>
      <dgm:t>
        <a:bodyPr/>
        <a:lstStyle/>
        <a:p>
          <a:endParaRPr lang="en-US"/>
        </a:p>
      </dgm:t>
    </dgm:pt>
    <dgm:pt modelId="{2F6FBD9F-47AF-4DF4-8A61-3A7CE96EEB3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At its core, </a:t>
          </a:r>
          <a:r>
            <a:rPr lang="en-US" sz="2100" dirty="0" err="1">
              <a:solidFill>
                <a:srgbClr val="FFFFFF"/>
              </a:solidFill>
              <a:ea typeface="+mn-ea"/>
              <a:cs typeface="+mn-cs"/>
            </a:rPr>
            <a:t>mcp</a:t>
          </a:r>
          <a:r>
            <a:rPr lang="en-US" sz="2100" dirty="0">
              <a:solidFill>
                <a:srgbClr val="FFFFFF"/>
              </a:solidFill>
              <a:ea typeface="+mn-ea"/>
              <a:cs typeface="+mn-cs"/>
            </a:rPr>
            <a:t> is a client-server messaging-format and communication-lifecycle standard</a:t>
          </a:r>
        </a:p>
      </dgm:t>
    </dgm:pt>
    <dgm:pt modelId="{C69F9273-B351-4449-BFC1-4ABB56F9FAB6}" type="parTrans" cxnId="{4DBFD376-EF5B-4278-BA1B-4797A30EB8C2}">
      <dgm:prSet/>
      <dgm:spPr/>
      <dgm:t>
        <a:bodyPr/>
        <a:lstStyle/>
        <a:p>
          <a:endParaRPr lang="en-US"/>
        </a:p>
      </dgm:t>
    </dgm:pt>
    <dgm:pt modelId="{C29A8545-C0C5-4B95-B96D-55DAA0DA588D}" type="sibTrans" cxnId="{4DBFD376-EF5B-4278-BA1B-4797A30EB8C2}">
      <dgm:prSet/>
      <dgm:spPr/>
      <dgm:t>
        <a:bodyPr/>
        <a:lstStyle/>
        <a:p>
          <a:endParaRPr lang="en-US"/>
        </a:p>
      </dgm:t>
    </dgm:pt>
    <dgm:pt modelId="{1C255D00-D132-4300-B918-353E4E82A073}" type="pres">
      <dgm:prSet presAssocID="{678B258D-46EB-44DC-A3D4-30ACA0D9A2D8}" presName="linear" presStyleCnt="0">
        <dgm:presLayoutVars>
          <dgm:animLvl val="lvl"/>
          <dgm:resizeHandles val="exact"/>
        </dgm:presLayoutVars>
      </dgm:prSet>
      <dgm:spPr/>
    </dgm:pt>
    <dgm:pt modelId="{58038112-D2D0-4167-AAF6-9197093D5B62}" type="pres">
      <dgm:prSet presAssocID="{56BC3484-9F02-42C5-8EBE-D3B15CA588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74FBC13-62F3-48E8-97C3-DD26BEE3AD69}" type="pres">
      <dgm:prSet presAssocID="{83450AA8-123F-4529-93E4-73124AC164E0}" presName="spacer" presStyleCnt="0"/>
      <dgm:spPr/>
    </dgm:pt>
    <dgm:pt modelId="{703E24F4-1033-4042-87EF-E12799049F7E}" type="pres">
      <dgm:prSet presAssocID="{5F4FF63F-3B2A-44B7-9A4A-0382972C2F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F26CB8-5D35-41C9-9757-78E90E444AA8}" type="pres">
      <dgm:prSet presAssocID="{47738681-6DBF-4E6B-ADD5-1E437AD293EC}" presName="spacer" presStyleCnt="0"/>
      <dgm:spPr/>
    </dgm:pt>
    <dgm:pt modelId="{58CF739C-AEDD-461D-91EC-97ADFC378C96}" type="pres">
      <dgm:prSet presAssocID="{2F6FBD9F-47AF-4DF4-8A61-3A7CE96EEB3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D51E229-C8B1-4539-8C05-5F9756F1393A}" type="presOf" srcId="{678B258D-46EB-44DC-A3D4-30ACA0D9A2D8}" destId="{1C255D00-D132-4300-B918-353E4E82A073}" srcOrd="0" destOrd="0" presId="urn:microsoft.com/office/officeart/2005/8/layout/vList2"/>
    <dgm:cxn modelId="{505F4C47-B142-429E-8894-FA658A896D96}" srcId="{678B258D-46EB-44DC-A3D4-30ACA0D9A2D8}" destId="{56BC3484-9F02-42C5-8EBE-D3B15CA58888}" srcOrd="0" destOrd="0" parTransId="{2EF79EA2-5C34-41DB-A03F-39E5DE69FC67}" sibTransId="{83450AA8-123F-4529-93E4-73124AC164E0}"/>
    <dgm:cxn modelId="{4DBFD376-EF5B-4278-BA1B-4797A30EB8C2}" srcId="{678B258D-46EB-44DC-A3D4-30ACA0D9A2D8}" destId="{2F6FBD9F-47AF-4DF4-8A61-3A7CE96EEB3B}" srcOrd="2" destOrd="0" parTransId="{C69F9273-B351-4449-BFC1-4ABB56F9FAB6}" sibTransId="{C29A8545-C0C5-4B95-B96D-55DAA0DA588D}"/>
    <dgm:cxn modelId="{3E65C29A-D2A6-4D43-89EF-99CF1968AEF0}" type="presOf" srcId="{5F4FF63F-3B2A-44B7-9A4A-0382972C2FBB}" destId="{703E24F4-1033-4042-87EF-E12799049F7E}" srcOrd="0" destOrd="0" presId="urn:microsoft.com/office/officeart/2005/8/layout/vList2"/>
    <dgm:cxn modelId="{DD54B7B3-0402-477F-8893-3C1485033EC8}" type="presOf" srcId="{56BC3484-9F02-42C5-8EBE-D3B15CA58888}" destId="{58038112-D2D0-4167-AAF6-9197093D5B62}" srcOrd="0" destOrd="0" presId="urn:microsoft.com/office/officeart/2005/8/layout/vList2"/>
    <dgm:cxn modelId="{ED4F65CA-22FF-4F20-A100-E7B5D60442C5}" type="presOf" srcId="{2F6FBD9F-47AF-4DF4-8A61-3A7CE96EEB3B}" destId="{58CF739C-AEDD-461D-91EC-97ADFC378C96}" srcOrd="0" destOrd="0" presId="urn:microsoft.com/office/officeart/2005/8/layout/vList2"/>
    <dgm:cxn modelId="{AC15C3F9-6594-44E7-8F54-63BCEB49124A}" srcId="{678B258D-46EB-44DC-A3D4-30ACA0D9A2D8}" destId="{5F4FF63F-3B2A-44B7-9A4A-0382972C2FBB}" srcOrd="1" destOrd="0" parTransId="{80116083-6185-4BE5-952C-584B6E50D990}" sibTransId="{47738681-6DBF-4E6B-ADD5-1E437AD293EC}"/>
    <dgm:cxn modelId="{C30065BF-CF00-4B4A-92BB-FE2E11FCC171}" type="presParOf" srcId="{1C255D00-D132-4300-B918-353E4E82A073}" destId="{58038112-D2D0-4167-AAF6-9197093D5B62}" srcOrd="0" destOrd="0" presId="urn:microsoft.com/office/officeart/2005/8/layout/vList2"/>
    <dgm:cxn modelId="{06530C2D-D8BA-4DFE-8602-9435420453BF}" type="presParOf" srcId="{1C255D00-D132-4300-B918-353E4E82A073}" destId="{774FBC13-62F3-48E8-97C3-DD26BEE3AD69}" srcOrd="1" destOrd="0" presId="urn:microsoft.com/office/officeart/2005/8/layout/vList2"/>
    <dgm:cxn modelId="{12A4D6D1-D3B0-4D5B-ABAD-3AA62CA43A72}" type="presParOf" srcId="{1C255D00-D132-4300-B918-353E4E82A073}" destId="{703E24F4-1033-4042-87EF-E12799049F7E}" srcOrd="2" destOrd="0" presId="urn:microsoft.com/office/officeart/2005/8/layout/vList2"/>
    <dgm:cxn modelId="{AFFDB883-0EA3-4B02-985D-16458AE7FC6E}" type="presParOf" srcId="{1C255D00-D132-4300-B918-353E4E82A073}" destId="{83F26CB8-5D35-41C9-9757-78E90E444AA8}" srcOrd="3" destOrd="0" presId="urn:microsoft.com/office/officeart/2005/8/layout/vList2"/>
    <dgm:cxn modelId="{9DC589EB-89C9-422E-9D3C-FB602B71D4DD}" type="presParOf" srcId="{1C255D00-D132-4300-B918-353E4E82A073}" destId="{58CF739C-AEDD-461D-91EC-97ADFC378C9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2E0008-F4AF-4EEC-9367-81EF64ABC7DF}" type="doc">
      <dgm:prSet loTypeId="urn:microsoft.com/office/officeart/2018/2/layout/IconLabelDescription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8C28F8-5594-4832-B9DB-4ED8E7BD95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TOOLS: They are server-side functions made accessible to an </a:t>
          </a:r>
          <a:r>
            <a:rPr lang="en-US" err="1"/>
            <a:t>mcp</a:t>
          </a:r>
          <a:r>
            <a:rPr lang="en-US"/>
            <a:t>-client, typically automatically invoked by a language-model based on </a:t>
          </a:r>
          <a:r>
            <a:rPr lang="en-US">
              <a:latin typeface="Century Gothic" panose="020B0502020202020204"/>
            </a:rPr>
            <a:t>context</a:t>
          </a:r>
        </a:p>
      </dgm:t>
    </dgm:pt>
    <dgm:pt modelId="{3CA4C1B3-DA35-45D8-AB55-0B07D3F71413}" type="parTrans" cxnId="{9439525D-371F-4635-A57B-D3FFA5F66A78}">
      <dgm:prSet/>
      <dgm:spPr/>
      <dgm:t>
        <a:bodyPr/>
        <a:lstStyle/>
        <a:p>
          <a:endParaRPr lang="en-US"/>
        </a:p>
      </dgm:t>
    </dgm:pt>
    <dgm:pt modelId="{17F8B7C0-27C7-4125-ACEC-F9A99971E9D9}" type="sibTrans" cxnId="{9439525D-371F-4635-A57B-D3FFA5F66A78}">
      <dgm:prSet/>
      <dgm:spPr/>
      <dgm:t>
        <a:bodyPr/>
        <a:lstStyle/>
        <a:p>
          <a:endParaRPr lang="en-US"/>
        </a:p>
      </dgm:t>
    </dgm:pt>
    <dgm:pt modelId="{A386D636-590E-44D6-B7D0-92D115FDC4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RESOURCES: They are server-side items, such as files or datasets, exposed to an </a:t>
          </a:r>
          <a:r>
            <a:rPr lang="en-US" err="1"/>
            <a:t>mcp</a:t>
          </a:r>
          <a:r>
            <a:rPr lang="en-US"/>
            <a:t>-client, typically explicitly requested by a user</a:t>
          </a:r>
        </a:p>
      </dgm:t>
    </dgm:pt>
    <dgm:pt modelId="{D98CB603-98DA-40BB-9273-11E950F7CED4}" type="parTrans" cxnId="{B8CFCA6D-B127-441C-A07B-95F05727B8F9}">
      <dgm:prSet/>
      <dgm:spPr/>
      <dgm:t>
        <a:bodyPr/>
        <a:lstStyle/>
        <a:p>
          <a:endParaRPr lang="en-US"/>
        </a:p>
      </dgm:t>
    </dgm:pt>
    <dgm:pt modelId="{8B17FF1E-8B57-49BA-BE8A-C01FBA25676A}" type="sibTrans" cxnId="{B8CFCA6D-B127-441C-A07B-95F05727B8F9}">
      <dgm:prSet/>
      <dgm:spPr/>
      <dgm:t>
        <a:bodyPr/>
        <a:lstStyle/>
        <a:p>
          <a:endParaRPr lang="en-US"/>
        </a:p>
      </dgm:t>
    </dgm:pt>
    <dgm:pt modelId="{B333E2F6-A5B8-4FCD-BA91-AF5AEFEF1F4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Gothic" panose="020B0502020202020204"/>
            </a:rPr>
            <a:t>Often</a:t>
          </a:r>
          <a:r>
            <a:rPr lang="en-US"/>
            <a:t> accept input-arguments whose format is defined through schemas</a:t>
          </a:r>
        </a:p>
      </dgm:t>
    </dgm:pt>
    <dgm:pt modelId="{4E807C55-9105-4864-8895-F3A354E22C94}" type="parTrans" cxnId="{6BBD65EC-AC83-44A5-B3EF-84C923AA9B61}">
      <dgm:prSet/>
      <dgm:spPr/>
    </dgm:pt>
    <dgm:pt modelId="{995861CD-2258-4FB7-A07B-528D3F6D6AE3}" type="sibTrans" cxnId="{6BBD65EC-AC83-44A5-B3EF-84C923AA9B61}">
      <dgm:prSet/>
      <dgm:spPr/>
      <dgm:t>
        <a:bodyPr/>
        <a:lstStyle/>
        <a:p>
          <a:endParaRPr lang="en-US"/>
        </a:p>
      </dgm:t>
    </dgm:pt>
    <dgm:pt modelId="{025542BA-11BC-4EA5-A841-4B57378C52A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Gothic" panose="020B0502020202020204"/>
            </a:rPr>
            <a:t>Resource data can be exposed through raw text contents, or as a blob, dependiing on client-implementation</a:t>
          </a:r>
        </a:p>
      </dgm:t>
    </dgm:pt>
    <dgm:pt modelId="{2B2DCB13-6247-4864-9038-AB6276D46507}" type="parTrans" cxnId="{27EC633C-966A-4363-8C01-34BC77D6E577}">
      <dgm:prSet/>
      <dgm:spPr/>
    </dgm:pt>
    <dgm:pt modelId="{89F1BEDA-5B38-4D10-9F05-681EE0363BD4}" type="sibTrans" cxnId="{27EC633C-966A-4363-8C01-34BC77D6E577}">
      <dgm:prSet/>
      <dgm:spPr/>
      <dgm:t>
        <a:bodyPr/>
        <a:lstStyle/>
        <a:p>
          <a:endParaRPr lang="en-US"/>
        </a:p>
      </dgm:t>
    </dgm:pt>
    <dgm:pt modelId="{1422B545-6A7B-42F7-9B33-C2E685765EAA}" type="pres">
      <dgm:prSet presAssocID="{582E0008-F4AF-4EEC-9367-81EF64ABC7DF}" presName="root" presStyleCnt="0">
        <dgm:presLayoutVars>
          <dgm:dir/>
          <dgm:resizeHandles val="exact"/>
        </dgm:presLayoutVars>
      </dgm:prSet>
      <dgm:spPr/>
    </dgm:pt>
    <dgm:pt modelId="{E5B1582A-B069-4116-A582-2CCB43866FE6}" type="pres">
      <dgm:prSet presAssocID="{AD8C28F8-5594-4832-B9DB-4ED8E7BD9531}" presName="compNode" presStyleCnt="0"/>
      <dgm:spPr/>
    </dgm:pt>
    <dgm:pt modelId="{9B83378C-7A1D-4685-8B7D-D3DE966FE994}" type="pres">
      <dgm:prSet presAssocID="{AD8C28F8-5594-4832-B9DB-4ED8E7BD953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CE9190E-D568-44AB-8EF5-792AAF0232FF}" type="pres">
      <dgm:prSet presAssocID="{AD8C28F8-5594-4832-B9DB-4ED8E7BD9531}" presName="iconSpace" presStyleCnt="0"/>
      <dgm:spPr/>
    </dgm:pt>
    <dgm:pt modelId="{CAE26F14-C3BC-4CDC-B0B0-C47C6CCBB96E}" type="pres">
      <dgm:prSet presAssocID="{AD8C28F8-5594-4832-B9DB-4ED8E7BD9531}" presName="parTx" presStyleLbl="revTx" presStyleIdx="0" presStyleCnt="4">
        <dgm:presLayoutVars>
          <dgm:chMax val="0"/>
          <dgm:chPref val="0"/>
        </dgm:presLayoutVars>
      </dgm:prSet>
      <dgm:spPr/>
    </dgm:pt>
    <dgm:pt modelId="{96596E0A-E423-4F95-ADA2-BD5ACB38F0AB}" type="pres">
      <dgm:prSet presAssocID="{AD8C28F8-5594-4832-B9DB-4ED8E7BD9531}" presName="txSpace" presStyleCnt="0"/>
      <dgm:spPr/>
    </dgm:pt>
    <dgm:pt modelId="{D834B7A4-AFF5-45FC-A946-B6C137A2B33C}" type="pres">
      <dgm:prSet presAssocID="{AD8C28F8-5594-4832-B9DB-4ED8E7BD9531}" presName="desTx" presStyleLbl="revTx" presStyleIdx="1" presStyleCnt="4">
        <dgm:presLayoutVars/>
      </dgm:prSet>
      <dgm:spPr/>
    </dgm:pt>
    <dgm:pt modelId="{5820D4C9-2BEE-47B6-A8D5-66C393A89587}" type="pres">
      <dgm:prSet presAssocID="{17F8B7C0-27C7-4125-ACEC-F9A99971E9D9}" presName="sibTrans" presStyleCnt="0"/>
      <dgm:spPr/>
    </dgm:pt>
    <dgm:pt modelId="{CF2F65DE-0019-41EA-BED4-0A3033C29D38}" type="pres">
      <dgm:prSet presAssocID="{A386D636-590E-44D6-B7D0-92D115FDC4A3}" presName="compNode" presStyleCnt="0"/>
      <dgm:spPr/>
    </dgm:pt>
    <dgm:pt modelId="{7860DECD-101C-4ADD-A756-DFF57C0BE0BC}" type="pres">
      <dgm:prSet presAssocID="{A386D636-590E-44D6-B7D0-92D115FDC4A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66FB208-8576-49CD-BD65-8861AC6E1381}" type="pres">
      <dgm:prSet presAssocID="{A386D636-590E-44D6-B7D0-92D115FDC4A3}" presName="iconSpace" presStyleCnt="0"/>
      <dgm:spPr/>
    </dgm:pt>
    <dgm:pt modelId="{6E4AF33B-69DC-4A06-9F33-9757F2C8E220}" type="pres">
      <dgm:prSet presAssocID="{A386D636-590E-44D6-B7D0-92D115FDC4A3}" presName="parTx" presStyleLbl="revTx" presStyleIdx="2" presStyleCnt="4">
        <dgm:presLayoutVars>
          <dgm:chMax val="0"/>
          <dgm:chPref val="0"/>
        </dgm:presLayoutVars>
      </dgm:prSet>
      <dgm:spPr/>
    </dgm:pt>
    <dgm:pt modelId="{7E64AAFF-5854-4ADD-97CC-33C441CBEF85}" type="pres">
      <dgm:prSet presAssocID="{A386D636-590E-44D6-B7D0-92D115FDC4A3}" presName="txSpace" presStyleCnt="0"/>
      <dgm:spPr/>
    </dgm:pt>
    <dgm:pt modelId="{1DFA5E3C-646D-4B57-81C8-962658C1E106}" type="pres">
      <dgm:prSet presAssocID="{A386D636-590E-44D6-B7D0-92D115FDC4A3}" presName="desTx" presStyleLbl="revTx" presStyleIdx="3" presStyleCnt="4">
        <dgm:presLayoutVars/>
      </dgm:prSet>
      <dgm:spPr/>
    </dgm:pt>
  </dgm:ptLst>
  <dgm:cxnLst>
    <dgm:cxn modelId="{E994BC04-FC17-4BBC-9540-B3FCE2CB2FB8}" type="presOf" srcId="{B333E2F6-A5B8-4FCD-BA91-AF5AEFEF1F45}" destId="{D834B7A4-AFF5-45FC-A946-B6C137A2B33C}" srcOrd="0" destOrd="0" presId="urn:microsoft.com/office/officeart/2018/2/layout/IconLabelDescriptionList"/>
    <dgm:cxn modelId="{E55B7810-FAEC-4F7B-8889-34EB210FF1E8}" type="presOf" srcId="{582E0008-F4AF-4EEC-9367-81EF64ABC7DF}" destId="{1422B545-6A7B-42F7-9B33-C2E685765EAA}" srcOrd="0" destOrd="0" presId="urn:microsoft.com/office/officeart/2018/2/layout/IconLabelDescriptionList"/>
    <dgm:cxn modelId="{27EC633C-966A-4363-8C01-34BC77D6E577}" srcId="{A386D636-590E-44D6-B7D0-92D115FDC4A3}" destId="{025542BA-11BC-4EA5-A841-4B57378C52AC}" srcOrd="0" destOrd="0" parTransId="{2B2DCB13-6247-4864-9038-AB6276D46507}" sibTransId="{89F1BEDA-5B38-4D10-9F05-681EE0363BD4}"/>
    <dgm:cxn modelId="{9439525D-371F-4635-A57B-D3FFA5F66A78}" srcId="{582E0008-F4AF-4EEC-9367-81EF64ABC7DF}" destId="{AD8C28F8-5594-4832-B9DB-4ED8E7BD9531}" srcOrd="0" destOrd="0" parTransId="{3CA4C1B3-DA35-45D8-AB55-0B07D3F71413}" sibTransId="{17F8B7C0-27C7-4125-ACEC-F9A99971E9D9}"/>
    <dgm:cxn modelId="{7AB6226C-6DEA-4248-9B22-242F086436C4}" type="presOf" srcId="{A386D636-590E-44D6-B7D0-92D115FDC4A3}" destId="{6E4AF33B-69DC-4A06-9F33-9757F2C8E220}" srcOrd="0" destOrd="0" presId="urn:microsoft.com/office/officeart/2018/2/layout/IconLabelDescriptionList"/>
    <dgm:cxn modelId="{B8CFCA6D-B127-441C-A07B-95F05727B8F9}" srcId="{582E0008-F4AF-4EEC-9367-81EF64ABC7DF}" destId="{A386D636-590E-44D6-B7D0-92D115FDC4A3}" srcOrd="1" destOrd="0" parTransId="{D98CB603-98DA-40BB-9273-11E950F7CED4}" sibTransId="{8B17FF1E-8B57-49BA-BE8A-C01FBA25676A}"/>
    <dgm:cxn modelId="{D6D32492-FE2D-4EAB-9E59-E7C612999F70}" type="presOf" srcId="{AD8C28F8-5594-4832-B9DB-4ED8E7BD9531}" destId="{CAE26F14-C3BC-4CDC-B0B0-C47C6CCBB96E}" srcOrd="0" destOrd="0" presId="urn:microsoft.com/office/officeart/2018/2/layout/IconLabelDescriptionList"/>
    <dgm:cxn modelId="{88A64FBD-7CD2-4D4E-A92B-5E0E40702E0F}" type="presOf" srcId="{025542BA-11BC-4EA5-A841-4B57378C52AC}" destId="{1DFA5E3C-646D-4B57-81C8-962658C1E106}" srcOrd="0" destOrd="0" presId="urn:microsoft.com/office/officeart/2018/2/layout/IconLabelDescriptionList"/>
    <dgm:cxn modelId="{6BBD65EC-AC83-44A5-B3EF-84C923AA9B61}" srcId="{AD8C28F8-5594-4832-B9DB-4ED8E7BD9531}" destId="{B333E2F6-A5B8-4FCD-BA91-AF5AEFEF1F45}" srcOrd="0" destOrd="0" parTransId="{4E807C55-9105-4864-8895-F3A354E22C94}" sibTransId="{995861CD-2258-4FB7-A07B-528D3F6D6AE3}"/>
    <dgm:cxn modelId="{632A54B5-3A01-44CD-A592-848DE543D92F}" type="presParOf" srcId="{1422B545-6A7B-42F7-9B33-C2E685765EAA}" destId="{E5B1582A-B069-4116-A582-2CCB43866FE6}" srcOrd="0" destOrd="0" presId="urn:microsoft.com/office/officeart/2018/2/layout/IconLabelDescriptionList"/>
    <dgm:cxn modelId="{FF53E9A1-0993-48BB-9FF8-5B892FD3C061}" type="presParOf" srcId="{E5B1582A-B069-4116-A582-2CCB43866FE6}" destId="{9B83378C-7A1D-4685-8B7D-D3DE966FE994}" srcOrd="0" destOrd="0" presId="urn:microsoft.com/office/officeart/2018/2/layout/IconLabelDescriptionList"/>
    <dgm:cxn modelId="{9748C742-49B4-43D8-8D21-CDF9AADBF3A0}" type="presParOf" srcId="{E5B1582A-B069-4116-A582-2CCB43866FE6}" destId="{7CE9190E-D568-44AB-8EF5-792AAF0232FF}" srcOrd="1" destOrd="0" presId="urn:microsoft.com/office/officeart/2018/2/layout/IconLabelDescriptionList"/>
    <dgm:cxn modelId="{8D7FFA45-1066-444F-82BB-8A216CE6597B}" type="presParOf" srcId="{E5B1582A-B069-4116-A582-2CCB43866FE6}" destId="{CAE26F14-C3BC-4CDC-B0B0-C47C6CCBB96E}" srcOrd="2" destOrd="0" presId="urn:microsoft.com/office/officeart/2018/2/layout/IconLabelDescriptionList"/>
    <dgm:cxn modelId="{B804B651-7158-4CB3-9C71-21DE515C457B}" type="presParOf" srcId="{E5B1582A-B069-4116-A582-2CCB43866FE6}" destId="{96596E0A-E423-4F95-ADA2-BD5ACB38F0AB}" srcOrd="3" destOrd="0" presId="urn:microsoft.com/office/officeart/2018/2/layout/IconLabelDescriptionList"/>
    <dgm:cxn modelId="{A77C5A2F-A458-46E9-9421-00D2669B18CD}" type="presParOf" srcId="{E5B1582A-B069-4116-A582-2CCB43866FE6}" destId="{D834B7A4-AFF5-45FC-A946-B6C137A2B33C}" srcOrd="4" destOrd="0" presId="urn:microsoft.com/office/officeart/2018/2/layout/IconLabelDescriptionList"/>
    <dgm:cxn modelId="{F090F39E-4947-4100-85E9-6417779362F5}" type="presParOf" srcId="{1422B545-6A7B-42F7-9B33-C2E685765EAA}" destId="{5820D4C9-2BEE-47B6-A8D5-66C393A89587}" srcOrd="1" destOrd="0" presId="urn:microsoft.com/office/officeart/2018/2/layout/IconLabelDescriptionList"/>
    <dgm:cxn modelId="{CCE51E1D-9BD6-4C2F-AF22-F0FB3F9F6AA8}" type="presParOf" srcId="{1422B545-6A7B-42F7-9B33-C2E685765EAA}" destId="{CF2F65DE-0019-41EA-BED4-0A3033C29D38}" srcOrd="2" destOrd="0" presId="urn:microsoft.com/office/officeart/2018/2/layout/IconLabelDescriptionList"/>
    <dgm:cxn modelId="{B5BBEE24-115E-4F49-A0FD-0BA45B3EC85E}" type="presParOf" srcId="{CF2F65DE-0019-41EA-BED4-0A3033C29D38}" destId="{7860DECD-101C-4ADD-A756-DFF57C0BE0BC}" srcOrd="0" destOrd="0" presId="urn:microsoft.com/office/officeart/2018/2/layout/IconLabelDescriptionList"/>
    <dgm:cxn modelId="{5E45DB5D-AFA3-479E-92BE-2D6D1B42AC66}" type="presParOf" srcId="{CF2F65DE-0019-41EA-BED4-0A3033C29D38}" destId="{966FB208-8576-49CD-BD65-8861AC6E1381}" srcOrd="1" destOrd="0" presId="urn:microsoft.com/office/officeart/2018/2/layout/IconLabelDescriptionList"/>
    <dgm:cxn modelId="{CE9A9E9F-13E2-478F-86B1-110D68331D0B}" type="presParOf" srcId="{CF2F65DE-0019-41EA-BED4-0A3033C29D38}" destId="{6E4AF33B-69DC-4A06-9F33-9757F2C8E220}" srcOrd="2" destOrd="0" presId="urn:microsoft.com/office/officeart/2018/2/layout/IconLabelDescriptionList"/>
    <dgm:cxn modelId="{71371F3F-21F7-4F1A-9D0C-FCC81BD1A35F}" type="presParOf" srcId="{CF2F65DE-0019-41EA-BED4-0A3033C29D38}" destId="{7E64AAFF-5854-4ADD-97CC-33C441CBEF85}" srcOrd="3" destOrd="0" presId="urn:microsoft.com/office/officeart/2018/2/layout/IconLabelDescriptionList"/>
    <dgm:cxn modelId="{FE86A970-0216-492C-9059-4E9AF7D8CAE0}" type="presParOf" srcId="{CF2F65DE-0019-41EA-BED4-0A3033C29D38}" destId="{1DFA5E3C-646D-4B57-81C8-962658C1E10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6CF52-0367-4F5F-9BFC-BF38BDA63CF1}">
      <dsp:nvSpPr>
        <dsp:cNvPr id="0" name=""/>
        <dsp:cNvSpPr/>
      </dsp:nvSpPr>
      <dsp:spPr>
        <a:xfrm>
          <a:off x="0" y="562"/>
          <a:ext cx="6046132" cy="0"/>
        </a:xfrm>
        <a:prstGeom prst="line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D386CC-FB22-47A1-AC27-38E2B40CDB1E}">
      <dsp:nvSpPr>
        <dsp:cNvPr id="0" name=""/>
        <dsp:cNvSpPr/>
      </dsp:nvSpPr>
      <dsp:spPr>
        <a:xfrm>
          <a:off x="0" y="562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Discussion will focus on server-side </a:t>
          </a:r>
          <a:r>
            <a:rPr lang="en-US" sz="2600" kern="1200" dirty="0">
              <a:latin typeface="Century Gothic" panose="020B0502020202020204"/>
            </a:rPr>
            <a:t>MCP</a:t>
          </a:r>
          <a:endParaRPr lang="en-US" sz="2600" kern="1200" dirty="0"/>
        </a:p>
      </dsp:txBody>
      <dsp:txXfrm>
        <a:off x="0" y="562"/>
        <a:ext cx="6046132" cy="920948"/>
      </dsp:txXfrm>
    </dsp:sp>
    <dsp:sp modelId="{C81298A6-5C6E-44C3-BD1C-112C8A816260}">
      <dsp:nvSpPr>
        <dsp:cNvPr id="0" name=""/>
        <dsp:cNvSpPr/>
      </dsp:nvSpPr>
      <dsp:spPr>
        <a:xfrm>
          <a:off x="0" y="921510"/>
          <a:ext cx="6046132" cy="0"/>
        </a:xfrm>
        <a:prstGeom prst="line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tint val="96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73696D-CC47-4F3F-8579-B66BA3D3457B}">
      <dsp:nvSpPr>
        <dsp:cNvPr id="0" name=""/>
        <dsp:cNvSpPr/>
      </dsp:nvSpPr>
      <dsp:spPr>
        <a:xfrm>
          <a:off x="0" y="921510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Discuss and explain </a:t>
          </a:r>
          <a:r>
            <a:rPr lang="en-US" sz="2600" kern="1200" dirty="0">
              <a:latin typeface="Century Gothic" panose="020B0502020202020204"/>
            </a:rPr>
            <a:t>MCP concepts</a:t>
          </a:r>
          <a:endParaRPr lang="en-US" sz="2600" kern="1200" dirty="0"/>
        </a:p>
      </dsp:txBody>
      <dsp:txXfrm>
        <a:off x="0" y="921510"/>
        <a:ext cx="6046132" cy="920948"/>
      </dsp:txXfrm>
    </dsp:sp>
    <dsp:sp modelId="{E87BB7A3-E212-48DC-A778-C5A0AACEF722}">
      <dsp:nvSpPr>
        <dsp:cNvPr id="0" name=""/>
        <dsp:cNvSpPr/>
      </dsp:nvSpPr>
      <dsp:spPr>
        <a:xfrm>
          <a:off x="0" y="1842458"/>
          <a:ext cx="6046132" cy="0"/>
        </a:xfrm>
        <a:prstGeom prst="line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tint val="96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BAA442-4A89-471D-92C0-050663C8A471}">
      <dsp:nvSpPr>
        <dsp:cNvPr id="0" name=""/>
        <dsp:cNvSpPr/>
      </dsp:nvSpPr>
      <dsp:spPr>
        <a:xfrm>
          <a:off x="0" y="1842458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Present </a:t>
          </a:r>
          <a:r>
            <a:rPr lang="en-US" sz="2600" kern="1200" dirty="0">
              <a:latin typeface="Century Gothic" panose="020B0502020202020204"/>
            </a:rPr>
            <a:t>MCP demo</a:t>
          </a:r>
        </a:p>
      </dsp:txBody>
      <dsp:txXfrm>
        <a:off x="0" y="1842458"/>
        <a:ext cx="6046132" cy="920948"/>
      </dsp:txXfrm>
    </dsp:sp>
    <dsp:sp modelId="{C2E0CC4D-223C-4EB3-A209-BBF9557989A0}">
      <dsp:nvSpPr>
        <dsp:cNvPr id="0" name=""/>
        <dsp:cNvSpPr/>
      </dsp:nvSpPr>
      <dsp:spPr>
        <a:xfrm>
          <a:off x="0" y="2763407"/>
          <a:ext cx="6046132" cy="0"/>
        </a:xfrm>
        <a:prstGeom prst="line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tint val="96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8BDD97-2C5B-45AF-A110-E3742EEAF4C3}">
      <dsp:nvSpPr>
        <dsp:cNvPr id="0" name=""/>
        <dsp:cNvSpPr/>
      </dsp:nvSpPr>
      <dsp:spPr>
        <a:xfrm>
          <a:off x="0" y="2763407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Century Gothic" panose="020B0502020202020204"/>
            </a:rPr>
            <a:t>Discuss</a:t>
          </a:r>
          <a:r>
            <a:rPr lang="en-US" sz="2600" kern="1200" dirty="0"/>
            <a:t> </a:t>
          </a:r>
          <a:r>
            <a:rPr lang="en-US" sz="2600" kern="1200" dirty="0" err="1"/>
            <a:t>apptrack</a:t>
          </a:r>
          <a:r>
            <a:rPr lang="en-US" sz="2600" kern="1200" dirty="0"/>
            <a:t> </a:t>
          </a:r>
          <a:r>
            <a:rPr lang="en-US" sz="2600" kern="1200" dirty="0">
              <a:latin typeface="Century Gothic" panose="020B0502020202020204"/>
            </a:rPr>
            <a:t>MCP</a:t>
          </a:r>
          <a:r>
            <a:rPr lang="en-US" sz="2600" kern="1200" dirty="0"/>
            <a:t> setup</a:t>
          </a:r>
        </a:p>
      </dsp:txBody>
      <dsp:txXfrm>
        <a:off x="0" y="2763407"/>
        <a:ext cx="6046132" cy="920948"/>
      </dsp:txXfrm>
    </dsp:sp>
    <dsp:sp modelId="{4FDC1EC5-7089-4908-A84D-6BB22E39D648}">
      <dsp:nvSpPr>
        <dsp:cNvPr id="0" name=""/>
        <dsp:cNvSpPr/>
      </dsp:nvSpPr>
      <dsp:spPr>
        <a:xfrm>
          <a:off x="0" y="3684355"/>
          <a:ext cx="6046132" cy="0"/>
        </a:xfrm>
        <a:prstGeom prst="line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96000"/>
                <a:lumMod val="104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FF3E6D-5E5D-46BE-B804-BD1DF51AF5FC}">
      <dsp:nvSpPr>
        <dsp:cNvPr id="0" name=""/>
        <dsp:cNvSpPr/>
      </dsp:nvSpPr>
      <dsp:spPr>
        <a:xfrm>
          <a:off x="0" y="3684355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Takeaways </a:t>
          </a:r>
        </a:p>
      </dsp:txBody>
      <dsp:txXfrm>
        <a:off x="0" y="3684355"/>
        <a:ext cx="6046132" cy="920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38112-D2D0-4167-AAF6-9197093D5B62}">
      <dsp:nvSpPr>
        <dsp:cNvPr id="0" name=""/>
        <dsp:cNvSpPr/>
      </dsp:nvSpPr>
      <dsp:spPr>
        <a:xfrm>
          <a:off x="0" y="70311"/>
          <a:ext cx="6046132" cy="1448094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solidFill>
                <a:srgbClr val="FFFFFF"/>
              </a:solidFill>
              <a:ea typeface="+mn-ea"/>
              <a:cs typeface="+mn-cs"/>
            </a:rPr>
            <a:t>Mcp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 employs a messaging standard </a:t>
          </a:r>
          <a:r>
            <a:rPr lang="en-US" sz="210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(JSON-RPC)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 to standardize communication payloads</a:t>
          </a:r>
        </a:p>
      </dsp:txBody>
      <dsp:txXfrm>
        <a:off x="70690" y="141001"/>
        <a:ext cx="5904752" cy="1306714"/>
      </dsp:txXfrm>
    </dsp:sp>
    <dsp:sp modelId="{703E24F4-1033-4042-87EF-E12799049F7E}">
      <dsp:nvSpPr>
        <dsp:cNvPr id="0" name=""/>
        <dsp:cNvSpPr/>
      </dsp:nvSpPr>
      <dsp:spPr>
        <a:xfrm>
          <a:off x="0" y="1578885"/>
          <a:ext cx="6046132" cy="1448094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14090"/>
                <a:alphaOff val="0"/>
                <a:tint val="96000"/>
                <a:lumMod val="104000"/>
              </a:schemeClr>
            </a:gs>
            <a:gs pos="100000">
              <a:schemeClr val="accent1">
                <a:shade val="80000"/>
                <a:hueOff val="0"/>
                <a:satOff val="0"/>
                <a:lumOff val="1409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This makes it "transport-agnostic" which means these </a:t>
          </a:r>
          <a:r>
            <a:rPr lang="en-US" sz="210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JSON-RPC messages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 can </a:t>
          </a:r>
          <a:r>
            <a:rPr lang="en-US" sz="210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be 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communicated </a:t>
          </a:r>
          <a:r>
            <a:rPr lang="en-US" sz="210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over different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 kinds of</a:t>
          </a:r>
          <a:r>
            <a:rPr lang="en-US" sz="210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 transports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 – even custom ones</a:t>
          </a:r>
        </a:p>
      </dsp:txBody>
      <dsp:txXfrm>
        <a:off x="70690" y="1649575"/>
        <a:ext cx="5904752" cy="1306714"/>
      </dsp:txXfrm>
    </dsp:sp>
    <dsp:sp modelId="{58CF739C-AEDD-461D-91EC-97ADFC378C96}">
      <dsp:nvSpPr>
        <dsp:cNvPr id="0" name=""/>
        <dsp:cNvSpPr/>
      </dsp:nvSpPr>
      <dsp:spPr>
        <a:xfrm>
          <a:off x="0" y="3087460"/>
          <a:ext cx="6046132" cy="1448094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28180"/>
                <a:alphaOff val="0"/>
                <a:tint val="96000"/>
                <a:lumMod val="104000"/>
              </a:schemeClr>
            </a:gs>
            <a:gs pos="100000">
              <a:schemeClr val="accent1">
                <a:shade val="80000"/>
                <a:hueOff val="0"/>
                <a:satOff val="0"/>
                <a:lumOff val="2818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At its core, </a:t>
          </a:r>
          <a:r>
            <a:rPr lang="en-US" sz="2100" kern="1200" dirty="0" err="1">
              <a:solidFill>
                <a:srgbClr val="FFFFFF"/>
              </a:solidFill>
              <a:ea typeface="+mn-ea"/>
              <a:cs typeface="+mn-cs"/>
            </a:rPr>
            <a:t>mcp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 is a client-server messaging-format and communication-lifecycle standard</a:t>
          </a:r>
        </a:p>
      </dsp:txBody>
      <dsp:txXfrm>
        <a:off x="70690" y="3158150"/>
        <a:ext cx="5904752" cy="13067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3378C-7A1D-4685-8B7D-D3DE966FE994}">
      <dsp:nvSpPr>
        <dsp:cNvPr id="0" name=""/>
        <dsp:cNvSpPr/>
      </dsp:nvSpPr>
      <dsp:spPr>
        <a:xfrm>
          <a:off x="441971" y="0"/>
          <a:ext cx="1509048" cy="1486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E26F14-C3BC-4CDC-B0B0-C47C6CCBB96E}">
      <dsp:nvSpPr>
        <dsp:cNvPr id="0" name=""/>
        <dsp:cNvSpPr/>
      </dsp:nvSpPr>
      <dsp:spPr>
        <a:xfrm>
          <a:off x="441971" y="1607478"/>
          <a:ext cx="4311566" cy="857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TOOLS: They are server-side functions made accessible to an </a:t>
          </a:r>
          <a:r>
            <a:rPr lang="en-US" sz="1400" kern="1200" err="1"/>
            <a:t>mcp</a:t>
          </a:r>
          <a:r>
            <a:rPr lang="en-US" sz="1400" kern="1200"/>
            <a:t>-client, typically automatically invoked by a language-model based on </a:t>
          </a:r>
          <a:r>
            <a:rPr lang="en-US" sz="1400" kern="1200">
              <a:latin typeface="Century Gothic" panose="020B0502020202020204"/>
            </a:rPr>
            <a:t>context</a:t>
          </a:r>
        </a:p>
      </dsp:txBody>
      <dsp:txXfrm>
        <a:off x="441971" y="1607478"/>
        <a:ext cx="4311566" cy="857021"/>
      </dsp:txXfrm>
    </dsp:sp>
    <dsp:sp modelId="{D834B7A4-AFF5-45FC-A946-B6C137A2B33C}">
      <dsp:nvSpPr>
        <dsp:cNvPr id="0" name=""/>
        <dsp:cNvSpPr/>
      </dsp:nvSpPr>
      <dsp:spPr>
        <a:xfrm>
          <a:off x="441971" y="2520672"/>
          <a:ext cx="4311566" cy="332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entury Gothic" panose="020B0502020202020204"/>
            </a:rPr>
            <a:t>Often</a:t>
          </a:r>
          <a:r>
            <a:rPr lang="en-US" sz="1100" kern="1200"/>
            <a:t> accept input-arguments whose format is defined through schemas</a:t>
          </a:r>
        </a:p>
      </dsp:txBody>
      <dsp:txXfrm>
        <a:off x="441971" y="2520672"/>
        <a:ext cx="4311566" cy="332929"/>
      </dsp:txXfrm>
    </dsp:sp>
    <dsp:sp modelId="{7860DECD-101C-4ADD-A756-DFF57C0BE0BC}">
      <dsp:nvSpPr>
        <dsp:cNvPr id="0" name=""/>
        <dsp:cNvSpPr/>
      </dsp:nvSpPr>
      <dsp:spPr>
        <a:xfrm>
          <a:off x="5508062" y="22495"/>
          <a:ext cx="1509048" cy="1486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4AF33B-69DC-4A06-9F33-9757F2C8E220}">
      <dsp:nvSpPr>
        <dsp:cNvPr id="0" name=""/>
        <dsp:cNvSpPr/>
      </dsp:nvSpPr>
      <dsp:spPr>
        <a:xfrm>
          <a:off x="5508062" y="1629973"/>
          <a:ext cx="4311566" cy="857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RESOURCES: They are server-side items, such as files or datasets, exposed to an </a:t>
          </a:r>
          <a:r>
            <a:rPr lang="en-US" sz="1400" kern="1200" err="1"/>
            <a:t>mcp</a:t>
          </a:r>
          <a:r>
            <a:rPr lang="en-US" sz="1400" kern="1200"/>
            <a:t>-client, typically explicitly requested by a user</a:t>
          </a:r>
        </a:p>
      </dsp:txBody>
      <dsp:txXfrm>
        <a:off x="5508062" y="1629973"/>
        <a:ext cx="4311566" cy="857021"/>
      </dsp:txXfrm>
    </dsp:sp>
    <dsp:sp modelId="{1DFA5E3C-646D-4B57-81C8-962658C1E106}">
      <dsp:nvSpPr>
        <dsp:cNvPr id="0" name=""/>
        <dsp:cNvSpPr/>
      </dsp:nvSpPr>
      <dsp:spPr>
        <a:xfrm>
          <a:off x="5508062" y="2543167"/>
          <a:ext cx="4311566" cy="287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entury Gothic" panose="020B0502020202020204"/>
            </a:rPr>
            <a:t>Resource data can be exposed through raw text contents, or as a blob, dependiing on client-implementation</a:t>
          </a:r>
        </a:p>
      </dsp:txBody>
      <dsp:txXfrm>
        <a:off x="5508062" y="2543167"/>
        <a:ext cx="4311566" cy="287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42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8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93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93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45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37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7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0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8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17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54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728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03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209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55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25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3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  <p:sldLayoutId id="2147483947" r:id="rId15"/>
    <p:sldLayoutId id="2147483948" r:id="rId16"/>
    <p:sldLayoutId id="21474839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5840" y="2186302"/>
            <a:ext cx="8737600" cy="2716107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London MCP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4915" y="4902409"/>
            <a:ext cx="6673254" cy="9144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Lessons and Takeaways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E72F-46D8-64DB-1066-B8BE3A0E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en-US" sz="40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Roadplan</a:t>
            </a:r>
            <a:endParaRPr lang="en-US" sz="4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FF670BB-D68F-BDED-014D-54E57622C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833433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613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C9B1-F6C4-E132-D2F8-98086D9B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57980"/>
            <a:ext cx="4977976" cy="145405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What is the Model Context Protocol?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9097-16B2-9A82-12B6-67046EABE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035859"/>
            <a:ext cx="7089957" cy="41987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MCP (Model Context Protocol) is an open-source standard for connecting AI applications to external systems</a:t>
            </a:r>
            <a:endParaRPr lang="en-US" sz="1800" dirty="0">
              <a:solidFill>
                <a:schemeClr val="tx2"/>
              </a:solidFill>
            </a:endParaRPr>
          </a:p>
          <a:p>
            <a:pPr>
              <a:buClr>
                <a:srgbClr val="FFFFFF"/>
              </a:buClr>
            </a:pPr>
            <a:endParaRPr lang="en-US" sz="1800" dirty="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Basically it is a standardized way to connect language models to functions and data</a:t>
            </a:r>
            <a:endParaRPr lang="en-US" sz="1800" dirty="0">
              <a:solidFill>
                <a:schemeClr val="tx2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2"/>
              </a:solidFill>
            </a:endParaRPr>
          </a:p>
          <a:p>
            <a:pPr lvl="1">
              <a:buFont typeface="Wingdings"/>
              <a:buChar char="Ø"/>
            </a:pPr>
            <a:r>
              <a:rPr lang="en-US" dirty="0">
                <a:solidFill>
                  <a:schemeClr val="tx2"/>
                </a:solidFill>
              </a:rPr>
              <a:t>The result of that is 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to map language to action or intent</a:t>
            </a:r>
            <a:endParaRPr lang="en-US" dirty="0">
              <a:solidFill>
                <a:schemeClr val="tx2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>
              <a:solidFill>
                <a:schemeClr val="tx2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09326DA0-DCCF-1277-6FB0-C7DE210FB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3359" y="98765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7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F36E-ED0E-6DCA-AAEF-37F2BDA9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en-US" sz="40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How does it work</a:t>
            </a:r>
            <a:endParaRPr lang="en-US" sz="4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1579482-0506-AD51-BFE7-4F76FE45E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3107397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626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E253D825-F922-3A07-6FEC-8C6545ED6EEA}"/>
              </a:ext>
            </a:extLst>
          </p:cNvPr>
          <p:cNvSpPr txBox="1"/>
          <p:nvPr/>
        </p:nvSpPr>
        <p:spPr>
          <a:xfrm>
            <a:off x="2474843" y="132080"/>
            <a:ext cx="7236527" cy="110236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3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Initial client-server "handshake"</a:t>
            </a:r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9AA078-8EF8-D24B-3162-1CAE644C0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35" y="1234440"/>
            <a:ext cx="5281482" cy="5382768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pic>
        <p:nvPicPr>
          <p:cNvPr id="12" name="Content Placeholder 11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46D21051-5138-9444-1AF4-7E91F076D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42" y="1232407"/>
            <a:ext cx="3966428" cy="5394151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4224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9B44886-047B-4C3D-B24D-40372BA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2192000" cy="437374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69F3D2E-2D8E-4CC9-A453-44EB58CF1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0" y="4462271"/>
            <a:ext cx="12192000" cy="2395728"/>
          </a:xfrm>
          <a:prstGeom prst="rect">
            <a:avLst/>
          </a:prstGeom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0D426-563A-620B-BEEF-9D9EC9138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707635"/>
            <a:ext cx="9905998" cy="1087109"/>
          </a:xfrm>
        </p:spPr>
        <p:txBody>
          <a:bodyPr anchor="t">
            <a:normAutofit/>
          </a:bodyPr>
          <a:lstStyle/>
          <a:p>
            <a:r>
              <a:rPr lang="en-US" sz="36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KEY MCP CONCEPTS</a:t>
            </a:r>
            <a:endParaRPr lang="en-US" sz="36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319A8F-DEC0-498D-AD34-743F1F874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8" y="4373740"/>
            <a:ext cx="12188952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D96F023-07C3-410F-8214-C77FAA8E7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0" y="3907334"/>
            <a:ext cx="12192000" cy="466406"/>
          </a:xfrm>
          <a:prstGeom prst="rect">
            <a:avLst/>
          </a:prstGeom>
          <a:gradFill>
            <a:gsLst>
              <a:gs pos="0">
                <a:srgbClr val="363D46"/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2BCFA0-5D3A-475E-6B7A-897DBE514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5110099"/>
              </p:ext>
            </p:extLst>
          </p:nvPr>
        </p:nvGraphicFramePr>
        <p:xfrm>
          <a:off x="965200" y="965201"/>
          <a:ext cx="10261600" cy="2853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647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0A6F-FB23-8F9A-7056-33B94E00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2499"/>
            <a:ext cx="9905998" cy="1905000"/>
          </a:xfrm>
        </p:spPr>
        <p:txBody>
          <a:bodyPr/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Schemas and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zod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BD584-B373-AB09-9246-DE7517D3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25569"/>
            <a:ext cx="9905998" cy="3765631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Schemas are an important concept in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especially since tool input arguments are being synthesized by an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llm</a:t>
            </a:r>
            <a:endParaRPr lang="en-U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concept is similar to data-transfer-object with rest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api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communication</a:t>
            </a:r>
          </a:p>
          <a:p>
            <a:pPr>
              <a:buClr>
                <a:srgbClr val="FFFFFF"/>
              </a:buClr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Zod, a peer dependency of the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sdk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is the library of choice to define these schemas</a:t>
            </a:r>
          </a:p>
          <a:p>
            <a:pPr>
              <a:buClr>
                <a:srgbClr val="FFFFFF"/>
              </a:buClr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Schema-validation based on tool definitions is built into the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mcp-sdk</a:t>
            </a: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664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A672405-5F81-4E97-B4FC-E7F2CC16F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CC126-405F-F2CE-192C-0172ED7F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542" y="990601"/>
            <a:ext cx="6054045" cy="4632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86C303-74D6-4DF3-9113-E0A374D71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769" y="2057400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634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5B44C-BE87-28A0-2314-C1B5178C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US" sz="34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Statefullness and serializability</a:t>
            </a:r>
            <a:endParaRPr lang="en-US" sz="3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C441-85CB-4F2C-43FD-9686FBDF1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389" y="912110"/>
            <a:ext cx="7382280" cy="652848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Before moving to </a:t>
            </a:r>
            <a:r>
              <a:rPr lang="en-US" sz="180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apptrack</a:t>
            </a: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it would be good to better establish these concepts in relation to the </a:t>
            </a:r>
            <a:r>
              <a:rPr lang="en-US" sz="180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</a:t>
            </a:r>
            <a:endParaRPr lang="en-US" sz="180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8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Stateful </a:t>
            </a:r>
            <a:r>
              <a:rPr lang="en-US" sz="180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</a:t>
            </a: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servers responses include the following two key headers: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'Content-Type': 'text/event-stream'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Connection: 'keep-alive'</a:t>
            </a: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This is essential to enable server-initiated events, such as notifications, but also features such as sampling and elicitation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8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</a:t>
            </a:r>
            <a:r>
              <a:rPr lang="en-US" sz="180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</a:t>
            </a: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-session-id, handled out of the box with </a:t>
            </a:r>
            <a:r>
              <a:rPr lang="en-US" sz="180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</a:t>
            </a: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sz="180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sdk</a:t>
            </a: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is a helpful application tool for complex workflows, such as caching by key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8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major drawback of stateful </a:t>
            </a:r>
            <a:r>
              <a:rPr lang="en-US" sz="1800" dirty="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mcp</a:t>
            </a:r>
            <a:r>
              <a:rPr lang="en-US" sz="18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server implementation is a fundamental incompatibility with horizontal scaling, since the http-transport object becomes non-serializable due to circular object structures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8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8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4182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214DC-F264-B2A7-FC03-10477EAA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2D7433A-5279-1090-BDEA-568422B9F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473E5-B0CB-A774-5ACA-6A39E23F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542" y="990601"/>
            <a:ext cx="6054045" cy="4632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APPTRACK MCP</a:t>
            </a:r>
            <a:endParaRPr lang="en-US" sz="48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146D0B-71BC-89F9-1F9C-D94041DC2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769" y="2057400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38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7E40-7BBF-D698-A136-B565882C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US" sz="40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APPTRACK MCP DISCUSSIOn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B484E-9D17-21C6-DD90-ED1C5D066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248" y="330634"/>
            <a:ext cx="7311779" cy="619515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en-US" sz="14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highlight>
                <a:srgbClr val="00FF00"/>
              </a:highligh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overly restrictive input schemas may throw a generic error at the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sdk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-level – before a tool callback is reached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Leveraging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zod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 checks for more complex validations, including cross validation scenarios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zod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-schemas should be the source of truth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constants object that comes from backend required generating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zod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 constants with helper functions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It is important to designate actionable errors that can be corrected and exposing only them in our responses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We can within the same application serve many different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mcp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 servers on different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urls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 </a:t>
            </a:r>
            <a:endParaRPr lang="en-US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5724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A672405-5F81-4E97-B4FC-E7F2CC16F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3646A-C859-22AF-BA0F-917CB12E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542" y="990601"/>
            <a:ext cx="6054045" cy="4632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Thank you, questions?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86C303-74D6-4DF3-9113-E0A374D71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769" y="2057400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850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Mesh</vt:lpstr>
      <vt:lpstr>London MCP</vt:lpstr>
      <vt:lpstr>Roadplan</vt:lpstr>
      <vt:lpstr>What is the Model Context Protocol?</vt:lpstr>
      <vt:lpstr>How does it work</vt:lpstr>
      <vt:lpstr>PowerPoint Presentation</vt:lpstr>
      <vt:lpstr>KEY MCP CONCEPTS</vt:lpstr>
      <vt:lpstr>Schemas and zod</vt:lpstr>
      <vt:lpstr>DEMO</vt:lpstr>
      <vt:lpstr>Statefullness and serializability</vt:lpstr>
      <vt:lpstr>APPTRACK MCP</vt:lpstr>
      <vt:lpstr>APPTRACK MCP DISCUSSIOn</vt:lpstr>
      <vt:lpstr>Thank you,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549</cp:revision>
  <dcterms:created xsi:type="dcterms:W3CDTF">2026-02-06T13:27:55Z</dcterms:created>
  <dcterms:modified xsi:type="dcterms:W3CDTF">2026-02-09T16:05:56Z</dcterms:modified>
</cp:coreProperties>
</file>